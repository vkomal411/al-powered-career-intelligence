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502920"/>
            <a:ext cx="2926080" cy="384048"/>
          </a:xfrm>
          <a:prstGeom prst="roundRect">
            <a:avLst/>
          </a:prstGeom>
          <a:solidFill>
            <a:srgbClr val="1E1B4B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PROJECT PRESENTATION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Calibri"/>
              </a:defRPr>
            </a:pPr>
            <a:r>
              <a:t>CareerPilot.AI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7D2FE"/>
                </a:solidFill>
                <a:latin typeface="Calibri"/>
              </a:defRPr>
            </a:pPr>
            <a:r>
              <a:t>AI-Powered Career Intelligence &amp; Resume Optimization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5120640" cy="3566160"/>
          </a:xfrm>
          <a:prstGeom prst="roundRect">
            <a:avLst/>
          </a:prstGeom>
          <a:solidFill>
            <a:srgbClr val="0A2A72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5120640" cy="502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📌  PROJECT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38BDF8"/>
                </a:solidFill>
              </a:rPr>
              <a:t>• Domain: </a:t>
            </a:r>
            <a:r>
              <a:rPr sz="1300">
                <a:solidFill>
                  <a:srgbClr val="E2E8F0"/>
                </a:solidFill>
              </a:rPr>
              <a:t>Artificial Intelligence, NLP &amp; Full-Stack Web Development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8BDF8"/>
                </a:solidFill>
              </a:rPr>
              <a:t>• Core AI: </a:t>
            </a:r>
            <a:r>
              <a:rPr sz="1300">
                <a:solidFill>
                  <a:srgbClr val="E2E8F0"/>
                </a:solidFill>
              </a:rPr>
              <a:t>Google Gemini Flash, spaCy NLP, SentenceTransformers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8BDF8"/>
                </a:solidFill>
              </a:rPr>
              <a:t>• Frontend: </a:t>
            </a:r>
            <a:r>
              <a:rPr sz="1300">
                <a:solidFill>
                  <a:srgbClr val="E2E8F0"/>
                </a:solidFill>
              </a:rPr>
              <a:t>Next.js 14, React 18, TypeScript, Tailwind CSS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8BDF8"/>
                </a:solidFill>
              </a:rPr>
              <a:t>• Backend: </a:t>
            </a:r>
            <a:r>
              <a:rPr sz="1300">
                <a:solidFill>
                  <a:srgbClr val="E2E8F0"/>
                </a:solidFill>
              </a:rPr>
              <a:t>FastAPI (Python 3.11+), PostgreSQL 16, SQLAlchemy ORM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8BDF8"/>
                </a:solidFill>
              </a:rPr>
              <a:t>• Deployment: </a:t>
            </a:r>
            <a:r>
              <a:rPr sz="1300">
                <a:solidFill>
                  <a:srgbClr val="E2E8F0"/>
                </a:solidFill>
              </a:rPr>
              <a:t>Docker Containerization, Render Cloud Blueprint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212080" cy="3566160"/>
          </a:xfrm>
          <a:prstGeom prst="roundRect">
            <a:avLst/>
          </a:prstGeom>
          <a:solidFill>
            <a:srgbClr val="0A2A72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743200"/>
            <a:ext cx="5212080" cy="502920"/>
          </a:xfrm>
          <a:prstGeom prst="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👥  GROUP MEMBERS &amp; CONTRIBUTORS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50">
                <a:solidFill>
                  <a:srgbClr val="FFFFFF"/>
                </a:solidFill>
              </a:rPr>
              <a:t>1. Rayachoti Venkatkomal
</a:t>
            </a:r>
            <a:r>
              <a:rPr sz="1200">
                <a:solidFill>
                  <a:srgbClr val="A5B4FC"/>
                </a:solidFill>
              </a:rPr>
              <a:t>    ▸ Team Lead / Full-Stack &amp; AI Engineer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FFFFFF"/>
                </a:solidFill>
              </a:rPr>
              <a:t>2. Group Member 2
</a:t>
            </a:r>
            <a:r>
              <a:rPr sz="1200">
                <a:solidFill>
                  <a:srgbClr val="A5B4FC"/>
                </a:solidFill>
              </a:rPr>
              <a:t>    ▸ Role / Roll No. (Edit Name)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FFFFFF"/>
                </a:solidFill>
              </a:rPr>
              <a:t>3. Group Member 3
</a:t>
            </a:r>
            <a:r>
              <a:rPr sz="1200">
                <a:solidFill>
                  <a:srgbClr val="A5B4FC"/>
                </a:solidFill>
              </a:rPr>
              <a:t>    ▸ Role / Roll No. (Edit Name)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FFFFFF"/>
                </a:solidFill>
              </a:rPr>
              <a:t>4. Group Member 4
</a:t>
            </a:r>
            <a:r>
              <a:rPr sz="1200">
                <a:solidFill>
                  <a:srgbClr val="A5B4FC"/>
                </a:solidFill>
              </a:rPr>
              <a:t>    ▸ Role / Roll No. (Edit Name)</a:t>
            </a:r>
          </a:p>
          <a:p>
            <a:r>
              <a:rPr b="1" sz="1200">
                <a:solidFill>
                  <a:srgbClr val="38BDF8"/>
                </a:solidFill>
              </a:rPr>
              <a:t>Project Guide / Mentor: </a:t>
            </a:r>
            <a:r>
              <a:rPr sz="1200">
                <a:solidFill>
                  <a:srgbClr val="94A3B8"/>
                </a:solidFill>
              </a:rPr>
              <a:t>[Mentor / Faculty Guide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137160"/>
            <a:ext cx="4416552" cy="6583680"/>
          </a:xfrm>
          <a:prstGeom prst="rect">
            <a:avLst/>
          </a:prstGeom>
          <a:solidFill>
            <a:srgbClr val="001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09728" cy="10972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CareerPilot.AI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5B4FC"/>
                </a:solidFill>
                <a:latin typeface="Calibri"/>
              </a:defRPr>
            </a:pPr>
            <a:r>
              <a:t>AI-Powered Career Intelligence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54880"/>
            <a:ext cx="45720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7316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Resume Intelligence  •  Career Roadmaps  •  ATS Scoring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Smart ATS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Resume Studio v2.0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AI Career Advisor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918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Skill Gap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931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Enterprise Security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An enterprise-grade AI-Powered Career Intelligence &amp; Resume Optimization Platform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Bridges the gap between job seekers, modern hiring requirements, and ATS systems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Ingests and deeply parses resumes (PDF/DOCX) using hybrid rule-based and NLP extractors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Performs 7-category ATS scoring with real-time actionable feedback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Delivers AI-powered career recommendations and multi-month milestone roadmaps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Features an interactive Resume Studio v2.0 with modular editing and multi-format exports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Includes an Enterprise Admin Command Center with RBAC, audit logging, and analytics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MILESTONES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M1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Foundation &amp;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Project scaffolding, FastAPI + Next.js setup,</a:t>
            </a:r>
            <a:br/>
            <a:r>
              <a:t>PostgreSQL schema, Docker configuration</a:t>
            </a:r>
          </a:p>
        </p:txBody>
      </p:sp>
      <p:sp>
        <p:nvSpPr>
          <p:cNvPr id="10" name="Oval 9"/>
          <p:cNvSpPr/>
          <p:nvPr/>
        </p:nvSpPr>
        <p:spPr>
          <a:xfrm>
            <a:off x="3291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Resume Parsing &amp; 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PDF/DOCX parser, 7-category ATS scoring,</a:t>
            </a:r>
            <a:br/>
            <a:r>
              <a:t>contact &amp; section detection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5577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AI &amp; Career Intelligence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spaCy NLP pipeline, Gemini LLM integration,</a:t>
            </a:r>
            <a:br/>
            <a:r>
              <a:t>skill gap analysis, career recommendations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863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1920240"/>
            <a:ext cx="164592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Resume Studio v2.0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Interactive resume builder, AI bullet rewriting,</a:t>
            </a:r>
            <a:br/>
            <a:r>
              <a:t>multi-format exports (PDF/DOCX/TXT)</a:t>
            </a:r>
          </a:p>
        </p:txBody>
      </p:sp>
      <p:sp>
        <p:nvSpPr>
          <p:cNvPr id="22" name="Oval 21"/>
          <p:cNvSpPr/>
          <p:nvPr/>
        </p:nvSpPr>
        <p:spPr>
          <a:xfrm>
            <a:off x="10149840" y="1645920"/>
            <a:ext cx="640080" cy="64008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4688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2060"/>
                </a:solidFill>
                <a:latin typeface="Calibri"/>
              </a:defRPr>
            </a:pPr>
            <a:r>
              <a:t>Admin &amp; Deployment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9260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  <a:latin typeface="Calibri"/>
              </a:defRPr>
            </a:pPr>
            <a:r>
              <a:t>Enterprise admin panel, RBAC security,</a:t>
            </a:r>
            <a:br/>
            <a:r>
              <a:t>CI/CD pipeline, Render cloud deployment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Architecture &amp; Tech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Frontend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Framework: </a:t>
            </a:r>
            <a:r>
              <a:rPr sz="1500">
                <a:solidFill>
                  <a:srgbClr val="1F1F1F"/>
                </a:solidFill>
                <a:latin typeface="Calibri"/>
              </a:rPr>
              <a:t>Next.js 14 with React 18 &amp; TypeScript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Styling: </a:t>
            </a:r>
            <a:r>
              <a:rPr sz="1500">
                <a:solidFill>
                  <a:srgbClr val="1F1F1F"/>
                </a:solidFill>
                <a:latin typeface="Calibri"/>
              </a:rPr>
              <a:t>Tailwind CSS with custom design tokens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Fonts: </a:t>
            </a:r>
            <a:r>
              <a:rPr sz="1500">
                <a:solidFill>
                  <a:srgbClr val="1F1F1F"/>
                </a:solidFill>
                <a:latin typeface="Calibri"/>
              </a:rPr>
              <a:t>Space Grotesk, Inter, JetBrains Mono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Theme: </a:t>
            </a:r>
            <a:r>
              <a:rPr sz="1500">
                <a:solidFill>
                  <a:srgbClr val="1F1F1F"/>
                </a:solidFill>
                <a:latin typeface="Calibri"/>
              </a:rPr>
              <a:t>Dark/Light mode with ThemeContext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Testing: </a:t>
            </a:r>
            <a:r>
              <a:rPr sz="1500">
                <a:solidFill>
                  <a:srgbClr val="1F1F1F"/>
                </a:solidFill>
                <a:latin typeface="Calibri"/>
              </a:rPr>
              <a:t>Jest + React Testing Library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Components: </a:t>
            </a:r>
            <a:r>
              <a:rPr sz="1500">
                <a:solidFill>
                  <a:srgbClr val="1F1F1F"/>
                </a:solidFill>
                <a:latin typeface="Calibri"/>
              </a:rPr>
              <a:t>Clean modular component library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Backend &amp;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API: </a:t>
            </a:r>
            <a:r>
              <a:rPr sz="1500">
                <a:solidFill>
                  <a:srgbClr val="1F1F1F"/>
                </a:solidFill>
                <a:latin typeface="Calibri"/>
              </a:rPr>
              <a:t>FastAPI (Python 3.11+) with Uvicorn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Database: </a:t>
            </a:r>
            <a:r>
              <a:rPr sz="1500">
                <a:solidFill>
                  <a:srgbClr val="1F1F1F"/>
                </a:solidFill>
                <a:latin typeface="Calibri"/>
              </a:rPr>
              <a:t>PostgreSQL 16 with SQLAlchemy 2.0 ORM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Auth: </a:t>
            </a:r>
            <a:r>
              <a:rPr sz="1500">
                <a:solidFill>
                  <a:srgbClr val="1F1F1F"/>
                </a:solidFill>
                <a:latin typeface="Calibri"/>
              </a:rPr>
              <a:t>PyJWT + Passlib (bcrypt) + Google OAuth 2.0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AI/ML: </a:t>
            </a:r>
            <a:r>
              <a:rPr sz="1500">
                <a:solidFill>
                  <a:srgbClr val="1F1F1F"/>
                </a:solidFill>
                <a:latin typeface="Calibri"/>
              </a:rPr>
              <a:t>Google Gemini, spaCy 3.7+, SentenceTransformers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DevOps: </a:t>
            </a:r>
            <a:r>
              <a:rPr sz="1500">
                <a:solidFill>
                  <a:srgbClr val="1F1F1F"/>
                </a:solidFill>
                <a:latin typeface="Calibri"/>
              </a:rPr>
              <a:t>Docker Compose, Render Blueprint, GitHub Actions CI/CD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Migrations: </a:t>
            </a:r>
            <a:r>
              <a:rPr sz="1500">
                <a:solidFill>
                  <a:srgbClr val="1F1F1F"/>
                </a:solidFill>
                <a:latin typeface="Calibri"/>
              </a:rPr>
              <a:t>Alembic for automated schema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Deep Resume Parsing: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Upload PDF/DOCX with magic-byte validation and structured extraction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7-Category ATS Scoring: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Structure, Formatting, Keywords, Skills, Experience, Readability, Completeness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Resume Studio v2.0: </a:t>
            </a:r>
            <a:r>
              <a:rPr sz="1800" b="0">
                <a:solidFill>
                  <a:srgbClr val="1F1F1F"/>
                </a:solidFill>
                <a:latin typeface="Calibri"/>
              </a:rPr>
              <a:t>Interactive builder with AI bullet enhancement and multi-template rendering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Skill Gap Analysis: </a:t>
            </a:r>
            <a:r>
              <a:rPr sz="1800" b="0">
                <a:solidFill>
                  <a:srgbClr val="1F1F1F"/>
                </a:solidFill>
                <a:latin typeface="Calibri"/>
              </a:rPr>
              <a:t>Ontology-driven analysis mapped to 50+ tech categories with demand trends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Career Roadmaps: </a:t>
            </a:r>
            <a:r>
              <a:rPr sz="1800" b="0">
                <a:solidFill>
                  <a:srgbClr val="1F1F1F"/>
                </a:solidFill>
                <a:latin typeface="Calibri"/>
              </a:rPr>
              <a:t>AI-generated 3–6 month milestone plans with curated learning resources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JD Matching &amp; Heatmaps: </a:t>
            </a:r>
            <a:r>
              <a:rPr sz="1800" b="0">
                <a:solidFill>
                  <a:srgbClr val="1F1F1F"/>
                </a:solidFill>
                <a:latin typeface="Calibri"/>
              </a:rPr>
              <a:t>Semantic similarity scoring with keyword gap visualization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Cover Letter &amp; Interview Prep: </a:t>
            </a:r>
            <a:r>
              <a:rPr sz="1800" b="0">
                <a:solidFill>
                  <a:srgbClr val="1F1F1F"/>
                </a:solidFill>
                <a:latin typeface="Calibri"/>
              </a:rPr>
              <a:t>AI-generated tailored cover letters and role-specific questions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Multi-Format Export: </a:t>
            </a:r>
            <a:r>
              <a:rPr sz="1800" b="0">
                <a:solidFill>
                  <a:srgbClr val="1F1F1F"/>
                </a:solidFill>
                <a:latin typeface="Calibri"/>
              </a:rPr>
              <a:t>PDF, DOCX, TXT, and JSON resume exports with template switching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Authentication &amp;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Dual Authentication: </a:t>
            </a:r>
            <a:r>
              <a:rPr sz="1800" b="0">
                <a:solidFill>
                  <a:srgbClr val="1F1F1F"/>
                </a:solidFill>
                <a:latin typeface="Calibri"/>
              </a:rPr>
              <a:t>Email/password with bcrypt hashing + Google OAuth 2.0 SSO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JWT Token System: </a:t>
            </a:r>
            <a:r>
              <a:rPr sz="1800" b="0">
                <a:solidFill>
                  <a:srgbClr val="1F1F1F"/>
                </a:solidFill>
                <a:latin typeface="Calibri"/>
              </a:rPr>
              <a:t>Short-lived access tokens with rotating HttpOnly refresh tokens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Token Family Tracking: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Database-tracked token families for compromised session detection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CSRF Protection: </a:t>
            </a:r>
            <a:r>
              <a:rPr sz="1800" b="0">
                <a:solidFill>
                  <a:srgbClr val="1F1F1F"/>
                </a:solidFill>
                <a:latin typeface="Calibri"/>
              </a:rPr>
              <a:t>Double-submit cookie with HMAC-SHA256 signature verification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RBAC System: </a:t>
            </a:r>
            <a:r>
              <a:rPr sz="1800" b="0">
                <a:solidFill>
                  <a:srgbClr val="1F1F1F"/>
                </a:solidFill>
                <a:latin typeface="Calibri"/>
              </a:rPr>
              <a:t>Four roles — superadmin, admin, moderator, user — with endpoint-level guards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Rate Limiting: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Sliding window rate limiter protecting all API endpoints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Audit Logging: </a:t>
            </a:r>
            <a:r>
              <a:rPr sz="1800" b="0">
                <a:solidFill>
                  <a:srgbClr val="1F1F1F"/>
                </a:solidFill>
                <a:latin typeface="Calibri"/>
              </a:rPr>
              <a:t>Tamper-evident administrative action logs for compliance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File Security: </a:t>
            </a:r>
            <a:r>
              <a:rPr sz="1800" b="0">
                <a:solidFill>
                  <a:srgbClr val="1F1F1F"/>
                </a:solidFill>
                <a:latin typeface="Calibri"/>
              </a:rPr>
              <a:t>MIME validation, magic-byte inspection, and 5MB upload size enforcement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AI &amp; Career Intelligence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NLP &amp; ML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spaCy 3.7+: </a:t>
            </a:r>
            <a:r>
              <a:rPr sz="1500">
                <a:solidFill>
                  <a:srgbClr val="1F1F1F"/>
                </a:solidFill>
                <a:latin typeface="Calibri"/>
              </a:rPr>
              <a:t>Custom EntityRuler for skill extraction with 5x CPU optimization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SentenceTransformers: </a:t>
            </a:r>
            <a:r>
              <a:rPr sz="1500">
                <a:solidFill>
                  <a:srgbClr val="1F1F1F"/>
                </a:solidFill>
                <a:latin typeface="Calibri"/>
              </a:rPr>
              <a:t>all-MiniLM-L6-v2 for semantic vector matching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TF-IDF Cosine: </a:t>
            </a:r>
            <a:r>
              <a:rPr sz="1500">
                <a:solidFill>
                  <a:srgbClr val="1F1F1F"/>
                </a:solidFill>
                <a:latin typeface="Calibri"/>
              </a:rPr>
              <a:t>Scikit-Learn fallback for sub-15ms JD matching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Career Scorer: </a:t>
            </a:r>
            <a:r>
              <a:rPr sz="1500">
                <a:solidFill>
                  <a:srgbClr val="1F1F1F"/>
                </a:solidFill>
                <a:latin typeface="Calibri"/>
              </a:rPr>
              <a:t>Multi-attribute weighted scoring across 60+ job roles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Skill Taxonomy: </a:t>
            </a:r>
            <a:r>
              <a:rPr sz="1500">
                <a:solidFill>
                  <a:srgbClr val="1F1F1F"/>
                </a:solidFill>
                <a:latin typeface="Calibri"/>
              </a:rPr>
              <a:t>50+ canonical tech categories with alias resolution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LLM &amp; Advisory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Tier 1: </a:t>
            </a:r>
            <a:r>
              <a:rPr sz="1500">
                <a:solidFill>
                  <a:srgbClr val="1F1F1F"/>
                </a:solidFill>
                <a:latin typeface="Calibri"/>
              </a:rPr>
              <a:t>Google GenAI SDK (Gemini 2.0-flash / 1.5-flash)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Tier 2: </a:t>
            </a:r>
            <a:r>
              <a:rPr sz="1500">
                <a:solidFill>
                  <a:srgbClr val="1F1F1F"/>
                </a:solidFill>
                <a:latin typeface="Calibri"/>
              </a:rPr>
              <a:t>Google Gemini REST API fallback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Tier 3: </a:t>
            </a:r>
            <a:r>
              <a:rPr sz="1500">
                <a:solidFill>
                  <a:srgbClr val="1F1F1F"/>
                </a:solidFill>
                <a:latin typeface="Calibri"/>
              </a:rPr>
              <a:t>Deterministic heuristic AI for offline resilience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Caching: </a:t>
            </a:r>
            <a:r>
              <a:rPr sz="1500">
                <a:solidFill>
                  <a:srgbClr val="1F1F1F"/>
                </a:solidFill>
                <a:latin typeface="Calibri"/>
              </a:rPr>
              <a:t>24-hour SHA-256 in-memory prompt TTL cache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Roadmaps: </a:t>
            </a:r>
            <a:r>
              <a:rPr sz="1500">
                <a:solidFill>
                  <a:srgbClr val="1F1F1F"/>
                </a:solidFill>
                <a:latin typeface="Calibri"/>
              </a:rPr>
              <a:t>11-domain career paths with curated course URLs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Resume Studio &amp; ATS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Resume Studio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Live section management: </a:t>
            </a:r>
            <a:r>
              <a:rPr sz="1500">
                <a:solidFill>
                  <a:srgbClr val="1F1F1F"/>
                </a:solidFill>
                <a:latin typeface="Calibri"/>
              </a:rPr>
              <a:t>summary, experience, education, projects, skills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▸ AI-powered bullet enhancement with quantifiable achievement suggestions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Multi-template rendering: </a:t>
            </a:r>
            <a:r>
              <a:rPr sz="1500">
                <a:solidFill>
                  <a:srgbClr val="1F1F1F"/>
                </a:solidFill>
                <a:latin typeface="Calibri"/>
              </a:rPr>
              <a:t>modern, classic, minimal, technical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▸ Version control with auto-save snapshots and rollback capability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Export center: </a:t>
            </a:r>
            <a:r>
              <a:rPr sz="1500">
                <a:solidFill>
                  <a:srgbClr val="1F1F1F"/>
                </a:solidFill>
                <a:latin typeface="Calibri"/>
              </a:rPr>
              <a:t>styled DOCX, high-fidelity PDF, plain TXT, structured JSON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8988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ATS Intelligence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9659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7-category scoring: </a:t>
            </a:r>
            <a:r>
              <a:rPr sz="1500">
                <a:solidFill>
                  <a:srgbClr val="1F1F1F"/>
                </a:solidFill>
                <a:latin typeface="Calibri"/>
              </a:rPr>
              <a:t>Structure, Formatting, Keywords, Skills &amp; more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Contact extraction: </a:t>
            </a:r>
            <a:r>
              <a:rPr sz="1500">
                <a:solidFill>
                  <a:srgbClr val="1F1F1F"/>
                </a:solidFill>
                <a:latin typeface="Calibri"/>
              </a:rPr>
              <a:t>email, phone, LinkedIn, GitHub detection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Section detection: </a:t>
            </a:r>
            <a:r>
              <a:rPr sz="1500">
                <a:solidFill>
                  <a:srgbClr val="1F1F1F"/>
                </a:solidFill>
                <a:latin typeface="Calibri"/>
              </a:rPr>
              <a:t>education hierarchy, work history, certifications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Keyword heatmaps: </a:t>
            </a:r>
            <a:r>
              <a:rPr sz="1500">
                <a:solidFill>
                  <a:srgbClr val="1F1F1F"/>
                </a:solidFill>
                <a:latin typeface="Calibri"/>
              </a:rPr>
              <a:t>found vs. missing requirement visualization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2060"/>
                </a:solidFill>
                <a:latin typeface="Calibri"/>
              </a:rPr>
              <a:t>▸ Actionable suggestions: </a:t>
            </a:r>
            <a:r>
              <a:rPr sz="1500">
                <a:solidFill>
                  <a:srgbClr val="1F1F1F"/>
                </a:solidFill>
                <a:latin typeface="Calibri"/>
              </a:rPr>
              <a:t>rule-based improvement recommendations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Enterprise Admin Command Center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Executive Analytics: </a:t>
            </a:r>
            <a:r>
              <a:rPr sz="1800" b="0">
                <a:solidFill>
                  <a:srgbClr val="1F1F1F"/>
                </a:solidFill>
                <a:latin typeface="Calibri"/>
              </a:rPr>
              <a:t>Real-time KPIs — user counts, parsing rates, average ATS scores, top missing skills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User Management: </a:t>
            </a:r>
            <a:r>
              <a:rPr sz="1800" b="0">
                <a:solidFill>
                  <a:srgbClr val="1F1F1F"/>
                </a:solidFill>
                <a:latin typeface="Calibri"/>
              </a:rPr>
              <a:t>Role elevation/demotion, user deactivation, and immediate session revocation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Resume Governance: </a:t>
            </a:r>
            <a:r>
              <a:rPr sz="1800" b="0">
                <a:solidFill>
                  <a:srgbClr val="1F1F1F"/>
                </a:solidFill>
                <a:latin typeface="Calibri"/>
              </a:rPr>
              <a:t>Resume inspection, raw file downloads, and job description catalog management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System Telemetry: </a:t>
            </a:r>
            <a:r>
              <a:rPr sz="1800" b="0">
                <a:solidFill>
                  <a:srgbClr val="1F1F1F"/>
                </a:solidFill>
                <a:latin typeface="Calibri"/>
              </a:rPr>
              <a:t>Live database health checks, memory/usage monitoring, and broadcast alerts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Feedback Moderation: </a:t>
            </a:r>
            <a:r>
              <a:rPr sz="1800" b="0">
                <a:solidFill>
                  <a:srgbClr val="1F1F1F"/>
                </a:solidFill>
                <a:latin typeface="Calibri"/>
              </a:rPr>
              <a:t>User feedback review with status workflows and quality tracking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Security &amp; Compliance: </a:t>
            </a:r>
            <a:r>
              <a:rPr sz="1800" b="0">
                <a:solidFill>
                  <a:srgbClr val="1F1F1F"/>
                </a:solidFill>
                <a:latin typeface="Calibri"/>
              </a:rPr>
              <a:t>RBAC matrix management, security audit logs, and status monitoring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Async Export Pipeline: </a:t>
            </a:r>
            <a:r>
              <a:rPr sz="1800" b="0">
                <a:solidFill>
                  <a:srgbClr val="1F1F1F"/>
                </a:solidFill>
                <a:latin typeface="Calibri"/>
              </a:rPr>
              <a:t>Background CSV/JSON export jobs for users, resumes, ATS stats, and audit trails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Deployment &amp; DevOps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Docker Compose: </a:t>
            </a:r>
            <a:r>
              <a:rPr sz="1800" b="0">
                <a:solidFill>
                  <a:srgbClr val="1F1F1F"/>
                </a:solidFill>
                <a:latin typeface="Calibri"/>
              </a:rPr>
              <a:t>Three-container orchestration — PostgreSQL 16, FastAPI backend, Next.js frontend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Render Cloud: </a:t>
            </a:r>
            <a:r>
              <a:rPr sz="1800" b="0">
                <a:solidFill>
                  <a:srgbClr val="1F1F1F"/>
                </a:solidFill>
                <a:latin typeface="Calibri"/>
              </a:rPr>
              <a:t>Managed PostgreSQL + Python backend + Node.js frontend via render.yaml blueprint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CI/CD Pipeline: </a:t>
            </a:r>
            <a:r>
              <a:rPr sz="1800" b="0">
                <a:solidFill>
                  <a:srgbClr val="1F1F1F"/>
                </a:solidFill>
                <a:latin typeface="Calibri"/>
              </a:rPr>
              <a:t>GitHub Actions — Pytest with coverage, Jest tests, and production build validation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Database Migrations: </a:t>
            </a:r>
            <a:r>
              <a:rPr sz="1800" b="0">
                <a:solidFill>
                  <a:srgbClr val="1F1F1F"/>
                </a:solidFill>
                <a:latin typeface="Calibri"/>
              </a:rPr>
              <a:t>Automated schema management via Alembic with pre-ping connection pooling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Keep-Alive Strategy: </a:t>
            </a:r>
            <a:r>
              <a:rPr sz="1800" b="0">
                <a:solidFill>
                  <a:srgbClr val="1F1F1F"/>
                </a:solidFill>
                <a:latin typeface="Calibri"/>
              </a:rPr>
              <a:t>Health endpoint + UptimeRobot pinging to eliminate cold-start delays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Performance Optimized: </a:t>
            </a:r>
            <a:r>
              <a:rPr sz="1800" b="0">
                <a:solidFill>
                  <a:srgbClr val="1F1F1F"/>
                </a:solidFill>
                <a:latin typeface="Calibri"/>
              </a:rPr>
              <a:t>Sub-250ms latency target with LRU caching and disabled unnecessary NLP pipelines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" y="274320"/>
            <a:ext cx="121158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2060"/>
                </a:solidFill>
                <a:latin typeface="Calibri"/>
              </a:defRPr>
            </a:pPr>
            <a:r>
              <a:t>Achievements &amp; Learnings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Successfully delivered a production-grade full-stack AI career intelligence platform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Built end-to-end resume parsing pipeline with 7-category ATS scoring engine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Integrated multi-tier LLM architecture with offline fallback resilience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1">
                <a:solidFill>
                  <a:srgbClr val="002060"/>
                </a:solidFill>
                <a:latin typeface="Calibri"/>
              </a:rPr>
              <a:t>Implemented enterprise-grade security: </a:t>
            </a:r>
            <a:r>
              <a:rPr sz="1800" b="0">
                <a:solidFill>
                  <a:srgbClr val="1F1F1F"/>
                </a:solidFill>
                <a:latin typeface="Calibri"/>
              </a:rPr>
              <a:t>JWT + OAuth + CSRF + RBAC + audit logging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Designed and built clean reusable React components with dark/light theme system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Hands-on experience with NLP (spaCy), vector embeddings, and LLM prompt engineering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Gained expertise in Docker containerization, CI/CD pipelines, and cloud deployment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800" b="0">
                <a:solidFill>
                  <a:srgbClr val="1F1F1F"/>
                </a:solidFill>
                <a:latin typeface="Calibri"/>
              </a:rPr>
              <a:t>Improved skills in system architecture, API design, and technical documentation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92240"/>
            <a:ext cx="1097280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0" y="137160"/>
            <a:ext cx="4416552" cy="6583680"/>
          </a:xfrm>
          <a:prstGeom prst="rect">
            <a:avLst/>
          </a:prstGeom>
          <a:solidFill>
            <a:srgbClr val="001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5B4FC"/>
                </a:solidFill>
                <a:latin typeface="Calibri"/>
              </a:defRPr>
            </a:pPr>
            <a:r>
              <a:t>CareerPilot.AI — AI-Powered Career Intelligence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572000"/>
            <a:ext cx="45720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9028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Full-Stack  •  AI/ML  •  Enterprise-Ready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371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7-Category ATS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011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Multi-Tier AI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Enterprise RBAC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9183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Resume Studio v2.0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931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7D2FE"/>
                </a:solidFill>
                <a:latin typeface="Calibri"/>
              </a:defRPr>
            </a:pPr>
            <a:r>
              <a:t>▸  Cloud-Native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