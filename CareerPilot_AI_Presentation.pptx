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achoti venkatkomal" userId="1452756ed9f13875" providerId="LiveId" clId="{44702795-2FD1-4C1A-A454-87F5EC8DF771}"/>
    <pc:docChg chg="undo custSel modSld">
      <pc:chgData name="Rayachoti venkatkomal" userId="1452756ed9f13875" providerId="LiveId" clId="{44702795-2FD1-4C1A-A454-87F5EC8DF771}" dt="2026-09-01T15:17:02.386" v="33" actId="120"/>
      <pc:docMkLst>
        <pc:docMk/>
      </pc:docMkLst>
      <pc:sldChg chg="modSp mod">
        <pc:chgData name="Rayachoti venkatkomal" userId="1452756ed9f13875" providerId="LiveId" clId="{44702795-2FD1-4C1A-A454-87F5EC8DF771}" dt="2026-09-01T15:17:02.386" v="33" actId="120"/>
        <pc:sldMkLst>
          <pc:docMk/>
          <pc:sldMk cId="0" sldId="265"/>
        </pc:sldMkLst>
        <pc:spChg chg="mod">
          <ac:chgData name="Rayachoti venkatkomal" userId="1452756ed9f13875" providerId="LiveId" clId="{44702795-2FD1-4C1A-A454-87F5EC8DF771}" dt="2026-09-01T15:16:56.573" v="32" actId="255"/>
          <ac:spMkLst>
            <pc:docMk/>
            <pc:sldMk cId="0" sldId="265"/>
            <ac:spMk id="6" creationId="{00000000-0000-0000-0000-000000000000}"/>
          </ac:spMkLst>
        </pc:spChg>
        <pc:spChg chg="mod">
          <ac:chgData name="Rayachoti venkatkomal" userId="1452756ed9f13875" providerId="LiveId" clId="{44702795-2FD1-4C1A-A454-87F5EC8DF771}" dt="2026-09-01T15:17:02.386" v="33" actId="120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Keywords</c:v>
                </c:pt>
                <c:pt idx="1">
                  <c:v>Skills</c:v>
                </c:pt>
                <c:pt idx="2">
                  <c:v>Structure</c:v>
                </c:pt>
                <c:pt idx="3">
                  <c:v>Experience</c:v>
                </c:pt>
                <c:pt idx="4">
                  <c:v>Formatting</c:v>
                </c:pt>
                <c:pt idx="5">
                  <c:v>Readability</c:v>
                </c:pt>
                <c:pt idx="6">
                  <c:v>Completeness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2A-42B5-8E8D-B4FCCE0782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3723E-C07D-4203-B4D0-7EE3D31A0EA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6B8F3-C6F3-4146-ADA0-66133A4EA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048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84048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INFOSYS SPRINGBOARD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CareerPilot.AI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7D2FE"/>
                </a:solidFill>
                <a:latin typeface="Calibri"/>
              </a:defRPr>
            </a:pPr>
            <a:r>
              <a:rPr sz="3200" dirty="0"/>
              <a:t>AI-Powered Career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5B4FC"/>
                </a:solidFill>
                <a:latin typeface="Calibri"/>
              </a:defRPr>
            </a:pPr>
            <a:r>
              <a:rPr dirty="0"/>
              <a:t>Group Members &amp; Contributors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78992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1. Rayachoti Venkatkomal</a:t>
            </a:r>
            <a:r>
              <a:rPr sz="1400" dirty="0">
                <a:solidFill>
                  <a:srgbClr val="C7D2FE"/>
                </a:solidFill>
                <a:latin typeface="Calibri"/>
              </a:rPr>
              <a:t>   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2. Group Member </a:t>
            </a:r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3. Group Member 3</a:t>
            </a:r>
            <a:r>
              <a:rPr sz="1400" dirty="0">
                <a:solidFill>
                  <a:srgbClr val="C7D2FE"/>
                </a:solidFill>
                <a:latin typeface="Calibri"/>
              </a:rPr>
              <a:t>   </a:t>
            </a:r>
            <a:endParaRPr lang="en-US" sz="1400" dirty="0">
              <a:solidFill>
                <a:srgbClr val="C7D2FE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4. Group Member 4</a:t>
            </a:r>
            <a:r>
              <a:rPr sz="1400" dirty="0">
                <a:solidFill>
                  <a:srgbClr val="C7D2FE"/>
                </a:solidFill>
                <a:latin typeface="Calibri"/>
              </a:rPr>
              <a:t>   </a:t>
            </a:r>
            <a:endParaRPr lang="en-US" sz="1400" dirty="0">
              <a:solidFill>
                <a:srgbClr val="C7D2FE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38BDF8"/>
                </a:solidFill>
                <a:latin typeface="Calibri"/>
              </a:rPr>
              <a:t>Project Guide: </a:t>
            </a:r>
            <a:r>
              <a:rPr lang="en-US" sz="1400" b="1" dirty="0">
                <a:solidFill>
                  <a:srgbClr val="94A3B8"/>
                </a:solidFill>
                <a:latin typeface="Calibri"/>
              </a:rPr>
              <a:t>Naveena</a:t>
            </a:r>
            <a:endParaRPr sz="14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CareerPilot.AI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Career Intelligence &amp; ATS Resume Optimization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→  THE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61B4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49631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of resumes are auto-rejected by ATS filters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7-category ATS scoring with rule-based fixes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61B4D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5603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0" y="249631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can't see which skills they're missing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32918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against 50+ canonical tech taxonomies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61B4D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5079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tools, ATS checkers, and job search are fragmented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3035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platform: parsing, auditing, roadmaps, builder, jobs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3434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61B4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5720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5079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a resume per job description is slow, error-prone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53035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Studio v2.0 with AI STAR bullet rewriting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chosen for speed, resilience, and type safety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24328" cy="4480560"/>
          </a:xfrm>
          <a:prstGeom prst="roundRect">
            <a:avLst>
              <a:gd name="adj" fmla="val 2787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1632204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3220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200400"/>
            <a:ext cx="21214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React 18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RTL testing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1508760"/>
            <a:ext cx="2624328" cy="4480560"/>
          </a:xfrm>
          <a:prstGeom prst="roundRect">
            <a:avLst>
              <a:gd name="adj" fmla="val 2787"/>
            </a:avLst>
          </a:prstGeom>
          <a:solidFill>
            <a:srgbClr val="EEF3FD"/>
          </a:solidFill>
          <a:ln/>
        </p:spPr>
      </p:sp>
      <p:sp>
        <p:nvSpPr>
          <p:cNvPr id="10" name="Shape 8"/>
          <p:cNvSpPr/>
          <p:nvPr/>
        </p:nvSpPr>
        <p:spPr>
          <a:xfrm>
            <a:off x="4485132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8513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30168" y="26517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200400"/>
            <a:ext cx="21214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+ Alembic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rate limits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45936" y="1508760"/>
            <a:ext cx="2624328" cy="4480560"/>
          </a:xfrm>
          <a:prstGeom prst="roundRect">
            <a:avLst>
              <a:gd name="adj" fmla="val 2787"/>
            </a:avLst>
          </a:prstGeom>
          <a:solidFill>
            <a:srgbClr val="EEF3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3806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380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83096" y="26517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NLP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1968" y="3200400"/>
            <a:ext cx="21214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Flash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3.7+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98864" y="1508760"/>
            <a:ext cx="2624328" cy="4480560"/>
          </a:xfrm>
          <a:prstGeom prst="roundRect">
            <a:avLst>
              <a:gd name="adj" fmla="val 2787"/>
            </a:avLst>
          </a:prstGeom>
          <a:solidFill>
            <a:srgbClr val="EEF3F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90988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9098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36024" y="26517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· DevOps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54896" y="3200400"/>
            <a:ext cx="21214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 + Passlib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 SSO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Render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Milestones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four-phase delivery roadmap, from authentication to production launch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34440" y="2103120"/>
            <a:ext cx="96926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17830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3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Setup &amp; Authentication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FastAPI scaffolding, PostgreSQL schema, JWT + Google OAuth 2.0, Docker Compose.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1980" y="17830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25146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3F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Resume Management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4290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parser, contact &amp; section extraction, 7-category ATS scoring engine.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00900" y="17830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72009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25146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Intelligence Dashboard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EntityRuler, Gemini-powered roadmaps with prompt caching, skill-gap engine, JD matcher.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89820" y="17830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99898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06840" y="25146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3FD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&amp; Deployment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89720" y="34290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Studio v2.0, Admin Command Center, CI/CD pipeline, Render Cloud launch.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 across four tiers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SPA  ·  React 18  ·  Tailwind CSS  ·  44+ modular components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41264" y="2286000"/>
            <a:ext cx="320040" cy="256032"/>
          </a:xfrm>
          <a:prstGeom prst="downArrow">
            <a:avLst/>
          </a:prstGeom>
          <a:solidFill>
            <a:srgbClr val="5B669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06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Security Gateway   </a:t>
            </a:r>
            <a:r>
              <a:rPr lang="en-US" sz="1300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Uvicorn  ·  PyJWT + OAuth 2.0  ·  CSRF HMAC guard  ·  4-tier RBAC  ·  Pydantic v2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3429000"/>
            <a:ext cx="292608" cy="237744"/>
          </a:xfrm>
          <a:prstGeom prst="downArrow">
            <a:avLst/>
          </a:prstGeom>
          <a:solidFill>
            <a:srgbClr val="5B6699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429000"/>
            <a:ext cx="292608" cy="237744"/>
          </a:xfrm>
          <a:prstGeom prst="downArrow">
            <a:avLst/>
          </a:prstGeom>
          <a:solidFill>
            <a:srgbClr val="5B669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70332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40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Intelligence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Google GenAI SDK (Gemini 2.0-flash)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Gemini REST API fallback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Deterministic offline rule engine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3.7+ custom EntityRuler (5x CPU)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+ TF-IDF matcher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370332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EE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840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Persistence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251960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(relational DB)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schema migrations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24-hr SHA-256 prompt TTL cache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async CSV/JSON workers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&amp; Governance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 with 4-tier role-based access control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1,840+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6459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89120" y="2423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Parsed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5087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6459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2423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ATS Score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Four-Tier RBAC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29000" y="352044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EEF3FD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520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EEF3FD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520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352044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EEF3FD"/>
          </a:solidFill>
          <a:ln/>
        </p:spPr>
      </p:sp>
      <p:sp>
        <p:nvSpPr>
          <p:cNvPr id="21" name="Text 19"/>
          <p:cNvSpPr/>
          <p:nvPr/>
        </p:nvSpPr>
        <p:spPr>
          <a:xfrm>
            <a:off x="9006840" y="3520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Telemetry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800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elevation / demotion with instant session revocation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connection-pool telemetry with pre-ping validation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broadcast alert banners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CSV / JSON data export jobs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Features &amp; Resume Studio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weighted, transparent ATS score paired with live AI-assisted editing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7-Category ATS Scoring Weights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4652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Bullet Enhancer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46520" y="18288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29400" y="22128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"Worked on backend"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0" y="3127248"/>
            <a:ext cx="320040" cy="256032"/>
          </a:xfrm>
          <a:prstGeom prst="downArrow">
            <a:avLst/>
          </a:prstGeom>
          <a:solidFill>
            <a:srgbClr val="2EC4B6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3456432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29400" y="38404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"Architected 12 FastAPI microservices, reducing server latency by 35%"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5074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Studio v2.0 also exports to styled DOCX, high-fidelity PDF, plain TXT, and JSON.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&amp; Security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Containerized, automated, and hardened at every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0992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3-Container Orchestration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gives local &amp; production parity across frontend, API, and database containers.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50876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70992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02352" y="167335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Cloud Hosting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on Render Cloud with uptime keep-alive to avoid cold starts.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50876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1312" y="170992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87384" y="167335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CI/CD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11312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 runs Pytest + Jest coverage and build verification on every change.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04164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00507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CSRF &amp; Session Defense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" y="470916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Double-submit HMAC-SHA256 CSRF guard plus rotating HttpOnly refresh cookies.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84048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04164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02352" y="400507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70916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rate limiting protects API and AI endpoints from abuse.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840480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</p:sp>
      <p:sp>
        <p:nvSpPr>
          <p:cNvPr id="30" name="Shape 28"/>
          <p:cNvSpPr/>
          <p:nvPr/>
        </p:nvSpPr>
        <p:spPr>
          <a:xfrm>
            <a:off x="8211312" y="404164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821131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87384" y="400507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Validation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11312" y="470916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magic-byte validation and 5MB enforcement on every resume upload.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 &amp; Key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performance and resilience engineering delivered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&lt;250ms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API response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throughput speedup on NLP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duplicate LLM token calls via caching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828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zero-downtime CI/CD deployment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comprehensive JWT token-family tracking and MIME magic-byte upload validation delivered zero security compromises in production.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Learnings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LLM fallback (SDK → REST → offline rules) keeps the platform available even without API access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Prompt-level caching turns AI cost into a controllable, predictable line item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unused spaCy pipeline components is a high-leverage, low-risk performance win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146304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08676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6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06324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43484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 turns resume optimization from a guessing game into a transparent, AI-guided engineering process.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CareerPilot.AI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828</Words>
  <Application>Microsoft Office PowerPoint</Application>
  <PresentationFormat>Widescreen</PresentationFormat>
  <Paragraphs>173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Rayachoti venkatkomal</cp:lastModifiedBy>
  <cp:revision>1</cp:revision>
  <dcterms:created xsi:type="dcterms:W3CDTF">2026-08-27T15:53:11Z</dcterms:created>
  <dcterms:modified xsi:type="dcterms:W3CDTF">2026-09-01T15:17:22Z</dcterms:modified>
</cp:coreProperties>
</file>