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yachoti venkatkomal" userId="1452756ed9f13875" providerId="LiveId" clId="{44702795-2FD1-4C1A-A454-87F5EC8DF771}"/>
    <pc:docChg chg="modSld">
      <pc:chgData name="Rayachoti venkatkomal" userId="1452756ed9f13875" providerId="LiveId" clId="{44702795-2FD1-4C1A-A454-87F5EC8DF771}" dt="2026-08-28T14:56:22.562" v="13" actId="1036"/>
      <pc:docMkLst>
        <pc:docMk/>
      </pc:docMkLst>
      <pc:sldChg chg="modSp mod">
        <pc:chgData name="Rayachoti venkatkomal" userId="1452756ed9f13875" providerId="LiveId" clId="{44702795-2FD1-4C1A-A454-87F5EC8DF771}" dt="2026-08-28T14:56:22.562" v="13" actId="1036"/>
        <pc:sldMkLst>
          <pc:docMk/>
          <pc:sldMk cId="0" sldId="260"/>
        </pc:sldMkLst>
        <pc:spChg chg="mod">
          <ac:chgData name="Rayachoti venkatkomal" userId="1452756ed9f13875" providerId="LiveId" clId="{44702795-2FD1-4C1A-A454-87F5EC8DF771}" dt="2026-08-28T14:56:09.556" v="5" actId="20577"/>
          <ac:spMkLst>
            <pc:docMk/>
            <pc:sldMk cId="0" sldId="260"/>
            <ac:spMk id="5" creationId="{00000000-0000-0000-0000-000000000000}"/>
          </ac:spMkLst>
        </pc:spChg>
        <pc:spChg chg="mod">
          <ac:chgData name="Rayachoti venkatkomal" userId="1452756ed9f13875" providerId="LiveId" clId="{44702795-2FD1-4C1A-A454-87F5EC8DF771}" dt="2026-08-28T14:56:16.097" v="12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Rayachoti venkatkomal" userId="1452756ed9f13875" providerId="LiveId" clId="{44702795-2FD1-4C1A-A454-87F5EC8DF771}" dt="2026-08-28T14:56:22.562" v="13" actId="1036"/>
          <ac:spMkLst>
            <pc:docMk/>
            <pc:sldMk cId="0" sldId="260"/>
            <ac:spMk id="23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Keywords</c:v>
                </c:pt>
                <c:pt idx="1">
                  <c:v>Skills</c:v>
                </c:pt>
                <c:pt idx="2">
                  <c:v>Structure</c:v>
                </c:pt>
                <c:pt idx="3">
                  <c:v>Experience</c:v>
                </c:pt>
                <c:pt idx="4">
                  <c:v>Formatting</c:v>
                </c:pt>
                <c:pt idx="5">
                  <c:v>Readability</c:v>
                </c:pt>
                <c:pt idx="6">
                  <c:v>Completeness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66-4B6B-951A-B605CC2FE4E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4608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CareerPilot.AI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207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Career Intelligence &amp; ATS Resume Optimization Platform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→  THE SOLUTION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161B4D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56032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49631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75%+ of resumes are auto-rejected by ATS filters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7-category ATS scoring with rule-based fixes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3317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161B4D"/>
          </a:solidFill>
          <a:ln/>
        </p:spPr>
      </p:sp>
      <p:sp>
        <p:nvSpPr>
          <p:cNvPr id="11" name="Shape 9"/>
          <p:cNvSpPr/>
          <p:nvPr/>
        </p:nvSpPr>
        <p:spPr>
          <a:xfrm>
            <a:off x="6446520" y="256032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086600" y="249631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can't see which skills they're missing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32918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analysis against 50+ canonical tech taxonomies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161B4D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57200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5079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tools, ATS checkers, and job search are fragmented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53035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platform: parsing, auditing, roadmaps, builder,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434340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161B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446520" y="457200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086600" y="45079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Tailoring a resume per job description is slow, error-prone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46520" y="53035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Studio v2.0 with AI STAR bullet rewriting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layers, chosen for speed, resilience, and type safety end to end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624328" cy="4480560"/>
          </a:xfrm>
          <a:prstGeom prst="roundRect">
            <a:avLst>
              <a:gd name="adj" fmla="val 2787"/>
            </a:avLst>
          </a:prstGeom>
          <a:solidFill>
            <a:srgbClr val="EEF3FD"/>
          </a:solidFill>
          <a:ln/>
        </p:spPr>
      </p:sp>
      <p:sp>
        <p:nvSpPr>
          <p:cNvPr id="5" name="Shape 3"/>
          <p:cNvSpPr/>
          <p:nvPr/>
        </p:nvSpPr>
        <p:spPr>
          <a:xfrm>
            <a:off x="1632204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63220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235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320040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· React 18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RTL testing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93008" y="1508760"/>
            <a:ext cx="2624328" cy="4480560"/>
          </a:xfrm>
          <a:prstGeom prst="roundRect">
            <a:avLst>
              <a:gd name="adj" fmla="val 2787"/>
            </a:avLst>
          </a:prstGeom>
          <a:solidFill>
            <a:srgbClr val="EEF3FD"/>
          </a:solidFill>
          <a:ln/>
        </p:spPr>
      </p:sp>
      <p:sp>
        <p:nvSpPr>
          <p:cNvPr id="10" name="Shape 8"/>
          <p:cNvSpPr/>
          <p:nvPr/>
        </p:nvSpPr>
        <p:spPr>
          <a:xfrm>
            <a:off x="4485132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485132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30168" y="2651760"/>
            <a:ext cx="235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API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49040" y="320040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3.11)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2.0 + Alembic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rate limits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45936" y="1508760"/>
            <a:ext cx="2624328" cy="4480560"/>
          </a:xfrm>
          <a:prstGeom prst="roundRect">
            <a:avLst>
              <a:gd name="adj" fmla="val 2787"/>
            </a:avLst>
          </a:prstGeom>
          <a:solidFill>
            <a:srgbClr val="EEF3FD"/>
          </a:solidFill>
          <a:ln/>
        </p:spPr>
      </p:sp>
      <p:sp>
        <p:nvSpPr>
          <p:cNvPr id="15" name="Shape 13"/>
          <p:cNvSpPr/>
          <p:nvPr/>
        </p:nvSpPr>
        <p:spPr>
          <a:xfrm>
            <a:off x="7338060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380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83096" y="2651760"/>
            <a:ext cx="235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NLP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01968" y="320040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Flash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3.7+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SentenceTransformers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TF-IDF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98864" y="1508760"/>
            <a:ext cx="2624328" cy="4480560"/>
          </a:xfrm>
          <a:prstGeom prst="roundRect">
            <a:avLst>
              <a:gd name="adj" fmla="val 2787"/>
            </a:avLst>
          </a:prstGeom>
          <a:solidFill>
            <a:srgbClr val="EEF3FD"/>
          </a:solidFill>
          <a:ln/>
        </p:spPr>
      </p:sp>
      <p:sp>
        <p:nvSpPr>
          <p:cNvPr id="20" name="Shape 18"/>
          <p:cNvSpPr/>
          <p:nvPr/>
        </p:nvSpPr>
        <p:spPr>
          <a:xfrm>
            <a:off x="10190988" y="1828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10190988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336024" y="2651760"/>
            <a:ext cx="235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 · DevOps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454896" y="320040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PyJWT + Passlib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OAuth 2.0 SSO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Render</a:t>
            </a:r>
            <a:endParaRPr lang="en-US" sz="1150" dirty="0"/>
          </a:p>
          <a:p>
            <a:pPr marL="152400" indent="-1524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Milestones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four-phase delivery roadmap, from authentication to production launch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34440" y="2103120"/>
            <a:ext cx="96926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3060" y="17830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16230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EF3F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Setup &amp; Authentication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FastAPI scaffolding, PostgreSQL schema, JWT + Google OAuth 2.0, Docker Compose.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7830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/>
          <p:nvPr/>
        </p:nvSpPr>
        <p:spPr>
          <a:xfrm>
            <a:off x="44119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29000" y="251460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EF3FD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Resume Management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4290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PDF/DOCX parser, contact &amp; section extraction, 7-category ATS scoring engine.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00900" y="17830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/>
          <p:nvPr/>
        </p:nvSpPr>
        <p:spPr>
          <a:xfrm>
            <a:off x="72009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251460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EF3F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Intelligence Dashboard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34290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EntityRuler, Gemini-powered roadmaps with prompt caching, skill-gap engine, JD matcher.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89820" y="17830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1" name="Text 19"/>
          <p:cNvSpPr/>
          <p:nvPr/>
        </p:nvSpPr>
        <p:spPr>
          <a:xfrm>
            <a:off x="998982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06840" y="251460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EF3FD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2697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 &amp; Deployment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89720" y="342900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Studio v2.0, Admin Command Center, CI/CD pipeline, Render Cloud launch.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request flow across four tiers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Tier  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SPA  ·  React 18  ·  Tailwind CSS  ·  44+ modular components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541264" y="2286000"/>
            <a:ext cx="320040" cy="256032"/>
          </a:xfrm>
          <a:prstGeom prst="downArrow">
            <a:avLst/>
          </a:prstGeom>
          <a:solidFill>
            <a:srgbClr val="5B6699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06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EC4B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060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&amp; Security Gateway   </a:t>
            </a:r>
            <a:r>
              <a:rPr lang="en-US" sz="1300" dirty="0">
                <a:solidFill>
                  <a:srgbClr val="16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 Uvicorn  ·  PyJWT + OAuth 2.0  ·  CSRF HMAC guard  ·  4-tier RBAC  ·  Pydantic v2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3429000"/>
            <a:ext cx="292608" cy="237744"/>
          </a:xfrm>
          <a:prstGeom prst="downArrow">
            <a:avLst/>
          </a:prstGeom>
          <a:solidFill>
            <a:srgbClr val="5B6699"/>
          </a:solidFill>
          <a:ln/>
        </p:spPr>
      </p:sp>
      <p:sp>
        <p:nvSpPr>
          <p:cNvPr id="10" name="Shape 8"/>
          <p:cNvSpPr/>
          <p:nvPr/>
        </p:nvSpPr>
        <p:spPr>
          <a:xfrm>
            <a:off x="8138160" y="3429000"/>
            <a:ext cx="292608" cy="237744"/>
          </a:xfrm>
          <a:prstGeom prst="downArrow">
            <a:avLst/>
          </a:prstGeom>
          <a:solidFill>
            <a:srgbClr val="5B6699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703320"/>
            <a:ext cx="5257800" cy="2514600"/>
          </a:xfrm>
          <a:prstGeom prst="roundRect">
            <a:avLst>
              <a:gd name="adj" fmla="val 2909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8404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Intelligence Pipeline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251960"/>
            <a:ext cx="4800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1: Google GenAI SDK (Gemini 2.0-flash)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2: Gemini REST API fallback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3: Deterministic offline rule engine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3.7+ custom EntityRuler (5x CPU)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SentenceTransformers + TF-IDF matcher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3703320"/>
            <a:ext cx="5257800" cy="2514600"/>
          </a:xfrm>
          <a:prstGeom prst="roundRect">
            <a:avLst>
              <a:gd name="adj" fmla="val 2909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8404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Persistence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4251960"/>
            <a:ext cx="4800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(relational DB)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2.0 ORM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schema migrations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24-hr SHA-256 prompt TTL cache</a:t>
            </a:r>
            <a:endParaRPr lang="en-US" sz="11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async CSV/JSON workers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Dashboard &amp; Governance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KPIs with 4-tier role-based access control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15087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16459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389120" y="2423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Resumes Parsed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50876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16459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138160" y="2423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ATS 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Four-Tier RBAC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520440"/>
            <a:ext cx="2606040" cy="594360"/>
          </a:xfrm>
          <a:prstGeom prst="roundRect">
            <a:avLst>
              <a:gd name="adj" fmla="val 9231"/>
            </a:avLst>
          </a:prstGeom>
          <a:solidFill>
            <a:srgbClr val="2EC4B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429000" y="3520440"/>
            <a:ext cx="2606040" cy="594360"/>
          </a:xfrm>
          <a:prstGeom prst="roundRect">
            <a:avLst>
              <a:gd name="adj" fmla="val 9231"/>
            </a:avLst>
          </a:prstGeom>
          <a:solidFill>
            <a:srgbClr val="EEF3FD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35204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2606040" cy="594360"/>
          </a:xfrm>
          <a:prstGeom prst="roundRect">
            <a:avLst>
              <a:gd name="adj" fmla="val 9231"/>
            </a:avLst>
          </a:prstGeom>
          <a:solidFill>
            <a:srgbClr val="EEF3FD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35204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06840" y="3520440"/>
            <a:ext cx="2606040" cy="594360"/>
          </a:xfrm>
          <a:prstGeom prst="roundRect">
            <a:avLst>
              <a:gd name="adj" fmla="val 9231"/>
            </a:avLst>
          </a:prstGeom>
          <a:solidFill>
            <a:srgbClr val="EEF3FD"/>
          </a:solidFill>
          <a:ln/>
        </p:spPr>
      </p:sp>
      <p:sp>
        <p:nvSpPr>
          <p:cNvPr id="21" name="Text 19"/>
          <p:cNvSpPr/>
          <p:nvPr/>
        </p:nvSpPr>
        <p:spPr>
          <a:xfrm>
            <a:off x="9006840" y="35204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4389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Telemetry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809226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elevation / demotion with instant session revocation</a:t>
            </a:r>
            <a:endParaRPr lang="en-US" sz="125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connection-pool telemetry with pre-ping validation</a:t>
            </a:r>
            <a:endParaRPr lang="en-US" sz="125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System-wide broadcast alert banners</a:t>
            </a:r>
            <a:endParaRPr lang="en-US" sz="125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CSV / JSON data export jobs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AI Features &amp; Resume Studio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weighted, transparent ATS score paired with live AI-assisted editing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7-Category ATS Scoring Weights</a:t>
            </a:r>
            <a:endParaRPr lang="en-US" sz="13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83080"/>
          <a:ext cx="55778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44652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Bullet Enhancer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46520" y="18288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EF3FD"/>
          </a:solidFill>
          <a:ln/>
        </p:spPr>
      </p:sp>
      <p:sp>
        <p:nvSpPr>
          <p:cNvPr id="8" name="Text 5"/>
          <p:cNvSpPr/>
          <p:nvPr/>
        </p:nvSpPr>
        <p:spPr>
          <a:xfrm>
            <a:off x="6629400" y="1938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62940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"Worked on backend"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0" y="3127248"/>
            <a:ext cx="320040" cy="256032"/>
          </a:xfrm>
          <a:prstGeom prst="downArrow">
            <a:avLst/>
          </a:prstGeom>
          <a:solidFill>
            <a:srgbClr val="2EC4B6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3456432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662940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629400" y="38404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"Architected 12 FastAPI microservices, reducing server latency by 35%"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5074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Studio v2.0 also exports to styled DOCX, high-fidelity PDF, plain TXT, and JSON.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Deployment &amp; Security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Containerized, automated, and hardened at every layer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502152" cy="2103120"/>
          </a:xfrm>
          <a:prstGeom prst="roundRect">
            <a:avLst>
              <a:gd name="adj" fmla="val 3478"/>
            </a:avLst>
          </a:prstGeom>
          <a:solidFill>
            <a:srgbClr val="EEF3FD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70992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673352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3-Container Orchestration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gives local &amp; production parity across frontend, API, and database containers.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25112" y="1508760"/>
            <a:ext cx="3502152" cy="2103120"/>
          </a:xfrm>
          <a:prstGeom prst="roundRect">
            <a:avLst>
              <a:gd name="adj" fmla="val 3478"/>
            </a:avLst>
          </a:prstGeom>
          <a:solidFill>
            <a:srgbClr val="EEF3FD"/>
          </a:solidFill>
          <a:ln/>
        </p:spPr>
      </p:sp>
      <p:sp>
        <p:nvSpPr>
          <p:cNvPr id="10" name="Shape 8"/>
          <p:cNvSpPr/>
          <p:nvPr/>
        </p:nvSpPr>
        <p:spPr>
          <a:xfrm>
            <a:off x="4526280" y="170992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02352" y="1673352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 Cloud Hosting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26280" y="237744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on Render Cloud with uptime keep-alive to avoid cold starts.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0144" y="1508760"/>
            <a:ext cx="3502152" cy="2103120"/>
          </a:xfrm>
          <a:prstGeom prst="roundRect">
            <a:avLst>
              <a:gd name="adj" fmla="val 3478"/>
            </a:avLst>
          </a:prstGeom>
          <a:solidFill>
            <a:srgbClr val="EEF3FD"/>
          </a:solidFill>
          <a:ln/>
        </p:spPr>
      </p:sp>
      <p:sp>
        <p:nvSpPr>
          <p:cNvPr id="15" name="Shape 13"/>
          <p:cNvSpPr/>
          <p:nvPr/>
        </p:nvSpPr>
        <p:spPr>
          <a:xfrm>
            <a:off x="8211312" y="170992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/>
          <p:nvPr/>
        </p:nvSpPr>
        <p:spPr>
          <a:xfrm>
            <a:off x="82113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87384" y="1673352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CI/CD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11312" y="237744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pipeline runs Pytest + Jest coverage and build verification on every change.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502152" cy="2103120"/>
          </a:xfrm>
          <a:prstGeom prst="roundRect">
            <a:avLst>
              <a:gd name="adj" fmla="val 3478"/>
            </a:avLst>
          </a:prstGeom>
          <a:solidFill>
            <a:srgbClr val="EEF3FD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04164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4005072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CSRF &amp; Session Defense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470916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Double-submit HMAC-SHA256 CSRF guard plus rotating HttpOnly refresh cookies.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25112" y="3840480"/>
            <a:ext cx="3502152" cy="2103120"/>
          </a:xfrm>
          <a:prstGeom prst="roundRect">
            <a:avLst>
              <a:gd name="adj" fmla="val 3478"/>
            </a:avLst>
          </a:prstGeom>
          <a:solidFill>
            <a:srgbClr val="EEF3FD"/>
          </a:solidFill>
          <a:ln/>
        </p:spPr>
      </p:sp>
      <p:sp>
        <p:nvSpPr>
          <p:cNvPr id="25" name="Shape 23"/>
          <p:cNvSpPr/>
          <p:nvPr/>
        </p:nvSpPr>
        <p:spPr>
          <a:xfrm>
            <a:off x="4526280" y="404164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02352" y="4005072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Limiting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rate limiting protects API and AI endpoints from abuse.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10144" y="3840480"/>
            <a:ext cx="3502152" cy="2103120"/>
          </a:xfrm>
          <a:prstGeom prst="roundRect">
            <a:avLst>
              <a:gd name="adj" fmla="val 3478"/>
            </a:avLst>
          </a:prstGeom>
          <a:solidFill>
            <a:srgbClr val="EEF3FD"/>
          </a:solidFill>
          <a:ln/>
        </p:spPr>
      </p:sp>
      <p:sp>
        <p:nvSpPr>
          <p:cNvPr id="30" name="Shape 28"/>
          <p:cNvSpPr/>
          <p:nvPr/>
        </p:nvSpPr>
        <p:spPr>
          <a:xfrm>
            <a:off x="8211312" y="4041648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1" name="Text 29"/>
          <p:cNvSpPr/>
          <p:nvPr/>
        </p:nvSpPr>
        <p:spPr>
          <a:xfrm>
            <a:off x="821131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787384" y="4005072"/>
            <a:ext cx="2542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Validation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11312" y="470916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MIME magic-byte validation and 5MB enforcement on every resume upload.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Achievements &amp; Key Metrics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performance and resilience engineering delivered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&lt;250ms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API response time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18288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5x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1188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throughput speedup on NLP pipeline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duplicate LLM token calls via caching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60020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006840" y="18288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89720" y="2606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Automated, zero-downtime CI/CD deployment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comprehensive JWT token-family tracking and MIME magic-byte upload validation delivered zero security compromises in production.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Learnings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93776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Multi-tier LLM fallback (SDK → REST → offline rules) keeps the platform available even without API access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Prompt-level caching turns AI cost into a controllable, predictable line item</a:t>
            </a:r>
            <a:endParaRPr lang="en-US" sz="1200" dirty="0"/>
          </a:p>
          <a:p>
            <a:pPr marL="342900" indent="-342900">
              <a:lnSpc>
                <a:spcPct val="13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Disabling unused spaCy pipeline components is a high-leverage, low-risk performance win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463040"/>
            <a:ext cx="1371600" cy="13716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5408676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6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30632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4434840"/>
            <a:ext cx="8531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 turns resume optimization from a guessing game into a transparent, AI-guided engineering process.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CareerPilot.AI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794</Words>
  <Application>Microsoft Office PowerPoint</Application>
  <PresentationFormat>Widescreen</PresentationFormat>
  <Paragraphs>164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Rayachoti venkatkomal</cp:lastModifiedBy>
  <cp:revision>1</cp:revision>
  <dcterms:created xsi:type="dcterms:W3CDTF">2026-08-27T15:53:11Z</dcterms:created>
  <dcterms:modified xsi:type="dcterms:W3CDTF">2026-08-28T14:56:24Z</dcterms:modified>
</cp:coreProperties>
</file>